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Customer Lifetime Value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The Starks | Progress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Team: The Starks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Members:</a:t>
            </a:r>
          </a:p>
          <a:p>
            <a:pPr lvl="1">
              <a:spcAft>
                <a:spcPts val="1200"/>
              </a:spcAft>
              <a:defRPr sz="2000"/>
            </a:pPr>
            <a:r>
              <a:t>• Othmane Zizi (261255341) — @othmane-zizi-pro</a:t>
            </a:r>
          </a:p>
          <a:p>
            <a:pPr lvl="1">
              <a:spcAft>
                <a:spcPts val="1200"/>
              </a:spcAft>
              <a:defRPr sz="2000"/>
            </a:pPr>
            <a:r>
              <a:t>• Fares Joni (261254593) — @FaresJ81</a:t>
            </a:r>
          </a:p>
          <a:p>
            <a:pPr lvl="1">
              <a:spcAft>
                <a:spcPts val="1200"/>
              </a:spcAft>
              <a:defRPr sz="2000"/>
            </a:pPr>
            <a:r>
              <a:t>• Tanmay Giri (261272443) — @tanmaysgiri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Repository:</a:t>
            </a:r>
          </a:p>
          <a:p>
            <a:pPr lvl="1">
              <a:spcAft>
                <a:spcPts val="1200"/>
              </a:spcAft>
              <a:defRPr sz="2000"/>
            </a:pPr>
            <a:r>
              <a:t>• github.com/FaresJ81/Nerds-With-Attitude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Context: Why CLV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What is Customer Lifetime Value (CLV)?</a:t>
            </a:r>
          </a:p>
          <a:p>
            <a:pPr lvl="1">
              <a:spcAft>
                <a:spcPts val="1200"/>
              </a:spcAft>
              <a:defRPr sz="2000"/>
            </a:pPr>
            <a:r>
              <a:t>• Total revenue expected from a customer over their entire relationship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Business Impact:</a:t>
            </a:r>
          </a:p>
          <a:p>
            <a:pPr lvl="1">
              <a:spcAft>
                <a:spcPts val="1200"/>
              </a:spcAft>
              <a:defRPr sz="2000"/>
            </a:pPr>
            <a:r>
              <a:t>• Acquiring new customers costs 5-25x more than retention</a:t>
            </a:r>
          </a:p>
          <a:p>
            <a:pPr lvl="1">
              <a:spcAft>
                <a:spcPts val="1200"/>
              </a:spcAft>
              <a:defRPr sz="2000"/>
            </a:pPr>
            <a:r>
              <a:t>• CLV-driven strategies improve acquisition efficiency by 5-8%</a:t>
            </a:r>
          </a:p>
          <a:p>
            <a:pPr lvl="1">
              <a:spcAft>
                <a:spcPts val="1200"/>
              </a:spcAft>
              <a:defRPr sz="2000"/>
            </a:pPr>
            <a:r>
              <a:t>• Enables smarter marketing budget allocation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Applications:</a:t>
            </a:r>
          </a:p>
          <a:p>
            <a:pPr lvl="1">
              <a:spcAft>
                <a:spcPts val="1200"/>
              </a:spcAft>
              <a:defRPr sz="2000"/>
            </a:pPr>
            <a:r>
              <a:t>• Identify high-value customers for VIP treatment</a:t>
            </a:r>
          </a:p>
          <a:p>
            <a:pPr lvl="1">
              <a:spcAft>
                <a:spcPts val="1200"/>
              </a:spcAft>
              <a:defRPr sz="2000"/>
            </a:pPr>
            <a:r>
              <a:t>• Target at-risk customers with retention campaigns</a:t>
            </a:r>
          </a:p>
          <a:p>
            <a:pPr lvl="1">
              <a:spcAft>
                <a:spcPts val="1200"/>
              </a:spcAft>
              <a:defRPr sz="2000"/>
            </a:pPr>
            <a:r>
              <a:t>• Segment customers for personalized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"Historical purchase patterns (recency, frequency, and monetary value)</a:t>
            </a:r>
          </a:p>
          <a:p>
            <a:pPr>
              <a:spcAft>
                <a:spcPts val="1200"/>
              </a:spcAft>
              <a:defRPr sz="2000"/>
            </a:pPr>
            <a:r>
              <a:t>can accurately predict a customer's future lifetime value."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What We're Testing:</a:t>
            </a:r>
          </a:p>
          <a:p>
            <a:pPr lvl="1">
              <a:spcAft>
                <a:spcPts val="1200"/>
              </a:spcAft>
              <a:defRPr sz="2000"/>
            </a:pPr>
            <a:r>
              <a:t>• Can RFM features predict future customer spending?</a:t>
            </a:r>
          </a:p>
          <a:p>
            <a:pPr lvl="1">
              <a:spcAft>
                <a:spcPts val="1200"/>
              </a:spcAft>
              <a:defRPr sz="2000"/>
            </a:pPr>
            <a:r>
              <a:t>• Which ML model performs best? (Linear vs. Random Forest vs. XGBoost)</a:t>
            </a:r>
          </a:p>
          <a:p>
            <a:pPr lvl="1">
              <a:spcAft>
                <a:spcPts val="1200"/>
              </a:spcAft>
              <a:defRPr sz="2000"/>
            </a:pPr>
            <a:r>
              <a:t>• Can we create actionable customer segments from predicted CLV?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Success Metrics:</a:t>
            </a:r>
          </a:p>
          <a:p>
            <a:pPr lvl="1">
              <a:spcAft>
                <a:spcPts val="1200"/>
              </a:spcAft>
              <a:defRPr sz="2000"/>
            </a:pPr>
            <a:r>
              <a:t>• Model accuracy: RMSE, MAE, R-squared</a:t>
            </a:r>
          </a:p>
          <a:p>
            <a:pPr lvl="1">
              <a:spcAft>
                <a:spcPts val="1200"/>
              </a:spcAft>
              <a:defRPr sz="2000"/>
            </a:pPr>
            <a:r>
              <a:t>• Business value: Lift in identifying top 20%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Data: Online Retail II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Source: UCI Machine Learning Repository</a:t>
            </a:r>
          </a:p>
          <a:p>
            <a:pPr lvl="1">
              <a:spcAft>
                <a:spcPts val="1200"/>
              </a:spcAft>
              <a:defRPr sz="2000"/>
            </a:pPr>
            <a:r>
              <a:t>• 541,909 transactions over 2 years (Dec 2009 - Dec 2011)</a:t>
            </a:r>
          </a:p>
          <a:p>
            <a:pPr lvl="1">
              <a:spcAft>
                <a:spcPts val="1200"/>
              </a:spcAft>
              <a:defRPr sz="2000"/>
            </a:pPr>
            <a:r>
              <a:t>• UK-based online giftware retailer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Original Features: Invoice, StockCode, Quantity, Price, CustomerID, Country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Engineered Features:</a:t>
            </a:r>
          </a:p>
          <a:p>
            <a:pPr lvl="1">
              <a:spcAft>
                <a:spcPts val="1200"/>
              </a:spcAft>
              <a:defRPr sz="2000"/>
            </a:pPr>
            <a:r>
              <a:t>• RFM: Recency, Frequency, Monetary (total spend)</a:t>
            </a:r>
          </a:p>
          <a:p>
            <a:pPr lvl="1">
              <a:spcAft>
                <a:spcPts val="1200"/>
              </a:spcAft>
              <a:defRPr sz="2000"/>
            </a:pPr>
            <a:r>
              <a:t>• Behavioral: Tenure, Avg time between purchases, Unique products, Basket size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Target Variable:</a:t>
            </a:r>
          </a:p>
          <a:p>
            <a:pPr lvl="1">
              <a:spcAft>
                <a:spcPts val="1200"/>
              </a:spcAft>
              <a:defRPr sz="2000"/>
            </a:pPr>
            <a:r>
              <a:t>• CLV = Total customer spend in next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GitHub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Repository Structure:</a:t>
            </a:r>
          </a:p>
          <a:p>
            <a:pPr lvl="1">
              <a:spcAft>
                <a:spcPts val="1200"/>
              </a:spcAft>
              <a:defRPr sz="2000"/>
            </a:pPr>
            <a:r>
              <a:t>• data/ — Raw and processed datasets</a:t>
            </a:r>
          </a:p>
          <a:p>
            <a:pPr lvl="1">
              <a:spcAft>
                <a:spcPts val="1200"/>
              </a:spcAft>
              <a:defRPr sz="2000"/>
            </a:pPr>
            <a:r>
              <a:t>• notebooks/ — 5 analysis notebooks (EDA → Modeling → Segmentation)</a:t>
            </a:r>
          </a:p>
          <a:p>
            <a:pPr lvl="1">
              <a:spcAft>
                <a:spcPts val="1200"/>
              </a:spcAft>
              <a:defRPr sz="2000"/>
            </a:pPr>
            <a:r>
              <a:t>• src/ — Reusable Python modules (data_loader, features, models)</a:t>
            </a:r>
          </a:p>
          <a:p>
            <a:pPr lvl="1">
              <a:spcAft>
                <a:spcPts val="1200"/>
              </a:spcAft>
              <a:defRPr sz="2000"/>
            </a:pPr>
            <a:r>
              <a:t>• reports/ — Visualizations and results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Project Board (Kanban):</a:t>
            </a:r>
          </a:p>
          <a:p>
            <a:pPr lvl="1">
              <a:spcAft>
                <a:spcPts val="1200"/>
              </a:spcAft>
              <a:defRPr sz="2000"/>
            </a:pPr>
            <a:r>
              <a:t>• Done: Repo setup, Data download, EDA</a:t>
            </a:r>
          </a:p>
          <a:p>
            <a:pPr lvl="1">
              <a:spcAft>
                <a:spcPts val="1200"/>
              </a:spcAft>
              <a:defRPr sz="2000"/>
            </a:pPr>
            <a:r>
              <a:t>• In Progress: Data cleaning, Feature engineering</a:t>
            </a:r>
          </a:p>
          <a:p>
            <a:pPr lvl="1">
              <a:spcAft>
                <a:spcPts val="1200"/>
              </a:spcAft>
              <a:defRPr sz="2000"/>
            </a:pPr>
            <a:r>
              <a:t>• To Do: Modeling, Segmentation, Final analysis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github.com/FaresJ81/Nerds-With-Attitude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Problem: Predict which customers will be most valuable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Data: 500K+ retail transactions over 2 years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Approach:</a:t>
            </a:r>
          </a:p>
          <a:p>
            <a:pPr lvl="1">
              <a:spcAft>
                <a:spcPts val="1200"/>
              </a:spcAft>
              <a:defRPr sz="2000"/>
            </a:pPr>
            <a:r>
              <a:t>• Engineer RFM + behavioral features</a:t>
            </a:r>
          </a:p>
          <a:p>
            <a:pPr lvl="1">
              <a:spcAft>
                <a:spcPts val="1200"/>
              </a:spcAft>
              <a:defRPr sz="2000"/>
            </a:pPr>
            <a:r>
              <a:t>• Compare ML models (Linear, Random Forest, XGBoost)</a:t>
            </a:r>
          </a:p>
          <a:p>
            <a:pPr lvl="1">
              <a:spcAft>
                <a:spcPts val="1200"/>
              </a:spcAft>
              <a:defRPr sz="2000"/>
            </a:pPr>
            <a:r>
              <a:t>• Segment customers based on predicted CLV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Goal: Enable targeted, data-driven marketing strategies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