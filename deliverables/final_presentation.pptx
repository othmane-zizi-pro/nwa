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Customer Lifetime Value Prediction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600"/>
            </a:pPr>
            <a:r>
              <a:t>Final Project Presentation (15 minutes)</a:t>
            </a:r>
          </a:p>
          <a:p>
            <a:pPr>
              <a:defRPr sz="1600"/>
            </a:pPr>
            <a:r>
              <a:t>Team: The Starks</a:t>
            </a:r>
          </a:p>
          <a:p>
            <a:pPr>
              <a:defRPr sz="1600"/>
            </a:pPr>
            <a:r>
              <a:t>Othmane Zizi (261255341) | GitHub: @othmane-zizi-pro</a:t>
            </a:r>
          </a:p>
          <a:p>
            <a:pPr>
              <a:defRPr sz="1600"/>
            </a:pPr>
            <a:r>
              <a:t>Fares Joni (261254593) | GitHub: @FaresJ81</a:t>
            </a:r>
          </a:p>
          <a:p>
            <a:pPr>
              <a:defRPr sz="1600"/>
            </a:pPr>
            <a:r>
              <a:t>Tanmay Giri (261272443) | GitHub: @tanmaysgiri</a:t>
            </a:r>
          </a:p>
          <a:p>
            <a:pPr>
              <a:defRPr sz="1600"/>
            </a:pPr>
            <a:r>
              <a:t>Repository: https://github.com/othmane-zizi-pro/nwa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Business Context (5.9.1)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Problem: marketing budgets are spread uniformly across unequal customers.</a:t>
            </a:r>
          </a:p>
          <a:p>
            <a:pPr>
              <a:defRPr sz="2200"/>
            </a:pPr>
            <a:r>
              <a:t>Objective: predict 6-month CLV to prioritize retention and campaign spend.</a:t>
            </a:r>
          </a:p>
          <a:p>
            <a:pPr>
              <a:defRPr sz="2200"/>
            </a:pPr>
            <a:r>
              <a:t>Business KPI: capture maximum realized CLV in top-ranked customers.</a:t>
            </a:r>
          </a:p>
          <a:p>
            <a:pPr>
              <a:defRPr sz="2200"/>
            </a:pPr>
            <a:r>
              <a:t>Success target: strong RMSE/R² and high lift over random targeting.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Hypotheses (5.9.2)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H1: RFM + behavioral history can predict future CLV.</a:t>
            </a:r>
          </a:p>
          <a:p>
            <a:pPr>
              <a:defRPr sz="2200"/>
            </a:pPr>
            <a:r>
              <a:t>H2: regularized linear models will generalize best on this feature set.</a:t>
            </a:r>
          </a:p>
          <a:p>
            <a:pPr>
              <a:defRPr sz="2200"/>
            </a:pPr>
            <a:r>
              <a:t>H3: causal uplift analysis can identify who should receive treatment.</a:t>
            </a:r>
          </a:p>
          <a:p>
            <a:pPr>
              <a:defRPr sz="2200"/>
            </a:pPr>
            <a:r>
              <a:t>Null: treatment has no measurable effect on future CLV.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Data Acquisition &amp; Profiling (5.2, 5.3)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73152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Dataset: UCI Online Retail II (2 sheets combined).</a:t>
            </a:r>
          </a:p>
          <a:p>
            <a:pPr>
              <a:defRPr sz="2200"/>
            </a:pPr>
            <a:r>
              <a:t>Rows loaded: 1,067,371 transaction lines.</a:t>
            </a:r>
          </a:p>
          <a:p>
            <a:pPr>
              <a:defRPr sz="2200"/>
            </a:pPr>
            <a:r>
              <a:t>Coverage: Dec 2009 to Dec 2011 with customer-level aggregation.</a:t>
            </a:r>
          </a:p>
          <a:p>
            <a:pPr>
              <a:defRPr sz="2200"/>
            </a:pPr>
            <a:r>
              <a:t>Profiling: missing values, outliers, country/activity distributions.</a:t>
            </a:r>
          </a:p>
        </p:txBody>
      </p:sp>
      <p:pic>
        <p:nvPicPr>
          <p:cNvPr id="4" name="Picture 3" descr="daily_trans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280160"/>
            <a:ext cx="42062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Data Preparation &amp; Features (5.4)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73152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Cleaning: remove cancellations, invalid qty/price, missing customer IDs.</a:t>
            </a:r>
          </a:p>
          <a:p>
            <a:pPr>
              <a:defRPr sz="2200"/>
            </a:pPr>
            <a:r>
              <a:t>Observation window: 12 months; prediction window: next 6 months.</a:t>
            </a:r>
          </a:p>
          <a:p>
            <a:pPr>
              <a:defRPr sz="2200"/>
            </a:pPr>
            <a:r>
              <a:t>Features: Recency, Frequency, Monetary, Tenure, cadence, basket behavior.</a:t>
            </a:r>
          </a:p>
          <a:p>
            <a:pPr>
              <a:defRPr sz="2200"/>
            </a:pPr>
            <a:r>
              <a:t>Target: CLV = spend in prediction window (includes churned=0).</a:t>
            </a:r>
          </a:p>
        </p:txBody>
      </p:sp>
      <p:pic>
        <p:nvPicPr>
          <p:cNvPr id="4" name="Picture 3" descr="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280160"/>
            <a:ext cx="42062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Modeling Approach (5.5, 5.6)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73152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Train/test split: 80/20 customer-level holdout.</a:t>
            </a:r>
          </a:p>
          <a:p>
            <a:pPr>
              <a:defRPr sz="2200"/>
            </a:pPr>
            <a:r>
              <a:t>Models: Linear, Ridge, Lasso, Random Forest, Gradient Boosting, XGBoost.</a:t>
            </a:r>
          </a:p>
          <a:p>
            <a:pPr>
              <a:defRPr sz="2200"/>
            </a:pPr>
            <a:r>
              <a:t>Metrics: RMSE, MAE, R², MAPE + lift chart.</a:t>
            </a:r>
          </a:p>
          <a:p>
            <a:pPr>
              <a:defRPr sz="2200"/>
            </a:pPr>
            <a:r>
              <a:t>Cross-validation used to assess stability.</a:t>
            </a:r>
          </a:p>
        </p:txBody>
      </p:sp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280160"/>
            <a:ext cx="42062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Predictive Results (5.9.5)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280160"/>
          <a:ext cx="1143000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807720">
                <a:tc>
                  <a:txBody>
                    <a:bodyPr/>
                    <a:lstStyle/>
                    <a:p>
                      <a:pPr>
                        <a:defRPr b="1" sz="1500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500"/>
                      </a:pPr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500"/>
                      </a:pPr>
                      <a:r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500"/>
                      </a:pPr>
                      <a:r>
                        <a:t>R²</a:t>
                      </a:r>
                    </a:p>
                  </a:txBody>
                  <a:tcPr/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Lasso Regression (Tuned)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1756.13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545.35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0.8096</a:t>
                      </a:r>
                    </a:p>
                  </a:txBody>
                  <a:tcPr/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Lasso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1761.83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547.71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0.8083</a:t>
                      </a:r>
                    </a:p>
                  </a:txBody>
                  <a:tcPr/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Linear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1762.46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547.99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0.8082</a:t>
                      </a:r>
                    </a:p>
                  </a:txBody>
                  <a:tcPr/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Ridge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1762.94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547.98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0.8081</a:t>
                      </a:r>
                    </a:p>
                  </a:txBody>
                  <a:tcPr/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2387.82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534.66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0.6479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Model Selection &amp; Fine-Tuning (5.7, 5.8)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Selection criteria: lowest RMSE + interpretability + CV consistency.</a:t>
            </a:r>
          </a:p>
          <a:p>
            <a:pPr>
              <a:defRPr sz="2200"/>
            </a:pPr>
            <a:r>
              <a:t>Winner: tuned Lasso Regression.</a:t>
            </a:r>
          </a:p>
          <a:p>
            <a:pPr>
              <a:defRPr sz="2200"/>
            </a:pPr>
            <a:r>
              <a:t>Tuning: randomized hyperparameter search on top baseline candidates.</a:t>
            </a:r>
          </a:p>
          <a:p>
            <a:pPr>
              <a:defRPr sz="2200"/>
            </a:pPr>
            <a:r>
              <a:t>Outcome: tuned Lasso marginally outperformed untuned alternatives.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Explainability (5.9.6)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73152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Global interpretability done with feature importance + SHAP.</a:t>
            </a:r>
          </a:p>
          <a:p>
            <a:pPr>
              <a:defRPr sz="2200"/>
            </a:pPr>
            <a:r>
              <a:t>Top drivers: Monetary, Frequency, AvgOrderValue, AvgBasketSize.</a:t>
            </a:r>
          </a:p>
          <a:p>
            <a:pPr>
              <a:defRPr sz="2200"/>
            </a:pPr>
            <a:r>
              <a:t>SHAP confirms directional contribution consistency across features.</a:t>
            </a:r>
          </a:p>
          <a:p>
            <a:pPr>
              <a:defRPr sz="2200"/>
            </a:pPr>
            <a:r>
              <a:t>Supports actionable business segmentation and budget allocation.</a:t>
            </a:r>
          </a:p>
        </p:txBody>
      </p:sp>
      <p:pic>
        <p:nvPicPr>
          <p:cNvPr id="4" name="Picture 3" descr="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280160"/>
            <a:ext cx="42062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Section Divider: Causal Inference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Second phase required by assignment: CausalML analysis on treatment effects.</a:t>
            </a:r>
          </a:p>
          <a:p>
            <a:pPr>
              <a:defRPr sz="2200"/>
            </a:pPr>
            <a:r>
              <a:t>Goal: move from prediction to intervention impact estimation.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Causal Phase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Outcome (target): log1p(CLV).</a:t>
            </a:r>
          </a:p>
          <a:p>
            <a:pPr>
              <a:defRPr sz="2200"/>
            </a:pPr>
            <a:r>
              <a:t>Treatment: campaign vs control assignment.</a:t>
            </a:r>
          </a:p>
          <a:p>
            <a:pPr>
              <a:defRPr sz="2200"/>
            </a:pPr>
            <a:r>
              <a:t>Controls: RFM + behavioral feature set.</a:t>
            </a:r>
          </a:p>
          <a:p>
            <a:pPr>
              <a:defRPr sz="2200"/>
            </a:pPr>
            <a:r>
              <a:t>Required models: LRSRegressor and XGBTRegressor.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Causal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280160"/>
          <a:ext cx="1143000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1615440">
                <a:tc>
                  <a:txBody>
                    <a:bodyPr/>
                    <a:lstStyle/>
                    <a:p>
                      <a:pPr>
                        <a:defRPr b="1" sz="1500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500"/>
                      </a:pPr>
                      <a:r>
                        <a:t>ATE (log1p CLV)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500"/>
                      </a:pPr>
                      <a:r>
                        <a:t>CI Lower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500"/>
                      </a:pPr>
                      <a:r>
                        <a:t>CI Upper</a:t>
                      </a:r>
                    </a:p>
                  </a:txBody>
                  <a:tcPr/>
                </a:tc>
              </a:tr>
              <a:tr h="161544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LRSRegressor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-0.1785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-0.3783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0.0213</a:t>
                      </a:r>
                    </a:p>
                  </a:txBody>
                  <a:tcPr/>
                </a:tc>
              </a:tr>
              <a:tr h="161544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XGBTRegressor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-0.1673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-0.2575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-0.0770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Threats to Validity (5.9.7)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Treatment assignment is observational/simulated, not randomized trial data.</a:t>
            </a:r>
          </a:p>
          <a:p>
            <a:pPr>
              <a:defRPr sz="2200"/>
            </a:pPr>
            <a:r>
              <a:t>Potential unobserved confounding and temporal behavior shifts.</a:t>
            </a:r>
          </a:p>
          <a:p>
            <a:pPr>
              <a:defRPr sz="2200"/>
            </a:pPr>
            <a:r>
              <a:t>Outliers and historical policy effects may bias estimated relationships.</a:t>
            </a:r>
          </a:p>
          <a:p>
            <a:pPr>
              <a:defRPr sz="2200"/>
            </a:pPr>
            <a:r>
              <a:t>External validity may vary across retail contexts.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Launching, Monitoring, Maintenance (5.10)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Production readiness: schema checks, reproducible pipeline, versioned artifacts.</a:t>
            </a:r>
          </a:p>
          <a:p>
            <a:pPr>
              <a:defRPr sz="2200"/>
            </a:pPr>
            <a:r>
              <a:t>Monitoring: RMSE drift + CLV capture@K + input PSI drift thresholds.</a:t>
            </a:r>
          </a:p>
          <a:p>
            <a:pPr>
              <a:defRPr sz="2200"/>
            </a:pPr>
            <a:r>
              <a:t>Alert policy and retraining cadence documented in monitoring plan.</a:t>
            </a:r>
          </a:p>
          <a:p>
            <a:pPr>
              <a:defRPr sz="2200"/>
            </a:pPr>
            <a:r>
              <a:t>Artifacts: monitoring_input_drift.csv + monitoring_plan.md.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Key Takeaways &amp; Next Steps (5.9.8, 5.9.9)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End-to-end pipeline implemented and validated from data to monitoring.</a:t>
            </a:r>
          </a:p>
          <a:p>
            <a:pPr>
              <a:defRPr sz="2200"/>
            </a:pPr>
            <a:r>
              <a:t>Predictive + explainable + causal views support better business decisions.</a:t>
            </a:r>
          </a:p>
          <a:p>
            <a:pPr>
              <a:defRPr sz="2200"/>
            </a:pPr>
            <a:r>
              <a:t>Next: validate uplift with real campaign logs/A-B tests and policy constraints.</a:t>
            </a:r>
          </a:p>
          <a:p>
            <a:pPr>
              <a:defRPr sz="2200"/>
            </a:pPr>
            <a:r>
              <a:t>Repository: https://github.com/othmane-zizi-pro/nwa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