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6E7F5"/>
                </a:solidFill>
                <a:latin typeface="Avenir Next"/>
              </a:rPr>
              <a:t>INSY 674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8FBFF"/>
                </a:solidFill>
                <a:latin typeface="Avenir Next"/>
              </a:rPr>
              <a:t>Customer Lifetime Value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DCEBF6"/>
                </a:solidFill>
                <a:latin typeface="Avenir Next"/>
              </a:rPr>
              <a:t>Predictive modeling, explainability, causal inference, and monitoring for an end-to-end enterprise data science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DCEBF6"/>
                </a:solidFill>
                <a:latin typeface="Avenir Next"/>
              </a:rPr>
              <a:t>Othmane Zizi (261255341) | Fares Joni (261254593) | Tanmay Giri (261272443) | https://github.com/othmane-zizi-pro/nwa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Business Context and Objective (5.9.1)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C1821"/>
                </a:solidFill>
                <a:latin typeface="Avenir Next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C1821"/>
                </a:solidFill>
                <a:latin typeface="Avenir Next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Marketing budgets are often distributed uniformly across unequal customers.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High-value customers can churn without proactive intervention.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Revenue concentration means ranking quality drives business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Predict 6-month CLV per customer from historical transaction behavior.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Use model output to prioritize retention and campaign spend.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Track value capture with lift and production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Hypotheses and Testing Framing (5.9.2)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H1: RFM + behavioral features can predict future CLV.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H2: Regularized linear models generalize better than tree models on this feature set.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H3: Causal uplift analysis identifies who should receive treatment.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Null framing: treatment has no measurable effect on log1p(CLV).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Exploration Visuals: Coverage and Quality (5.3)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Initial EDA covered time trends, missingness, geography, and transactional behavior.</a:t>
            </a:r>
          </a:p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These checks informed cleaning decisions before feature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ily_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94" y="2039112"/>
            <a:ext cx="460493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19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Daily transaction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44" y="2039112"/>
            <a:ext cx="3283471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Missing values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op_count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979" y="4233672"/>
            <a:ext cx="3257161" cy="1618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19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Top purchasing countries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ice_quantity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361882"/>
            <a:ext cx="5248656" cy="13620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Price and quantity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Feature and Target Distributions (5.4)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RFM and behavioral features show heavy skew and strong concentration effects.</a:t>
            </a:r>
          </a:p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Correlation and distribution checks shaped model family and scaling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fm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166712"/>
            <a:ext cx="5248656" cy="13632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19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RFM feature distributions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v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671" y="2039112"/>
            <a:ext cx="4616016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Future CLV distribution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ustomer_frequ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443" y="4233672"/>
            <a:ext cx="4618233" cy="1618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19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Customer purchase frequency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rrelat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294" y="4233672"/>
            <a:ext cx="1910771" cy="1618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Feature correlation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Segmentation and Behavioral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Segmentation complements prediction by converting scores into action buckets.</a:t>
            </a:r>
          </a:p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Profiles and cluster diagnostics guide campaign strategy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g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150" y="2039112"/>
            <a:ext cx="4124819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19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Segment size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gment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305027"/>
            <a:ext cx="5248656" cy="108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Segment profile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fm_seg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782" y="4233672"/>
            <a:ext cx="3275555" cy="1618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19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RFM segment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lbow_meth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695" y="4233672"/>
            <a:ext cx="3287969" cy="1618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K-means elbow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Modeling Approach and Evaluation (5.5, 5.6)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Train/val/test split: 80/10/10 at customer level; validation for tuning, test as final holdout.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Compared Linear, Ridge, Lasso, Random Forest, Gradient Boosting, XGBoost.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Metrics: RMSE, MAE, R2, MAPE and lift for business prioritization.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Randomized search used for fine-tuning top candidates.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Predictive Performance (5.9.5)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862.46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441.21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Lasso Regression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1761.83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547.71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0.808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1762.46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547.99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Ridge Regression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1762.94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547.98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0.808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2387.82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534.66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Model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Diagnostics and Business Utility (5.7, 5.8, 5.9.6)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Model ranking, residual diagnostics, and lift all support selection of a tuned regularized model.</a:t>
            </a:r>
          </a:p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The top-decile lift demonstrates strong practical targeting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" y="2039112"/>
            <a:ext cx="5179161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19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Model metric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14" y="2039112"/>
            <a:ext cx="2427732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72160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Global feature importance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est_model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" y="4233672"/>
            <a:ext cx="4531766" cy="1618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19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Residual and fit 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ft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4233672"/>
            <a:ext cx="2697480" cy="1618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161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Lift chart (business impact)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SHAP Explainability (5.9.6)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SHAP confirms direction and magnitude of global drivers.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Monetary and frequency behavior dominate prediction contributions.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Interpretability supports stakeholder trust and campaign governance.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Lift@10% = 6.69x over random targeting.</a:t>
            </a:r>
          </a:p>
        </p:txBody>
      </p:sp>
      <p:pic>
        <p:nvPicPr>
          <p:cNvPr id="8" name="Picture 7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905304"/>
            <a:ext cx="3840480" cy="22361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6E7F5"/>
                </a:solidFill>
                <a:latin typeface="Avenir Next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8FBFF"/>
                </a:solidFill>
                <a:latin typeface="Avenir Next"/>
              </a:rPr>
              <a:t>CausalML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DCEBF6"/>
                </a:solidFill>
                <a:latin typeface="Avenir Next"/>
              </a:rPr>
              <a:t>From prediction to intervention impact estimation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Causal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Target, Treatment,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C1821"/>
                </a:solidFill>
                <a:latin typeface="Avenir Next"/>
              </a:rPr>
              <a:t>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C1821"/>
                </a:solidFill>
                <a:latin typeface="Avenir Next"/>
              </a:rPr>
              <a:t>Required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Outcome: log1p(CLV).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Treatment: campaign vs control assignment.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Controls: RFM + behavioral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LRSRegressor (S-learner style).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XGBTRegressor (T-learner style).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Feature importance and CATE distribution analyzed in notebook 06.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Causal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Average Treatment Effects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463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ATE (log1p CLV)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CI Lower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BFF"/>
                          </a:solidFill>
                          <a:latin typeface="Avenir Next"/>
                        </a:defRPr>
                      </a:pPr>
                      <a:r>
                        <a:t>CI Upper</a:t>
                      </a:r>
                    </a:p>
                  </a:txBody>
                  <a:tcPr>
                    <a:solidFill>
                      <a:srgbClr val="102B40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LRSRegressor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-0.1785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-0.3783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0.0213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XGBTRegressor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-0.1673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-0.2575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C1821"/>
                          </a:solidFill>
                          <a:latin typeface="Avenir Next"/>
                        </a:defRPr>
                      </a:pPr>
                      <a:r>
                        <a:t>-0.0770</a:t>
                      </a:r>
                    </a:p>
                  </a:txBody>
                  <a:tcPr>
                    <a:solidFill>
                      <a:srgbClr val="F9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Causal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Uplift Distribution and Causal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Treatment effects vary substantially by customer profile (heterogeneous CATE).</a:t>
            </a:r>
          </a:p>
          <a:p>
            <a:pPr>
              <a:spcAft>
                <a:spcPts val="300"/>
              </a:spcAft>
              <a:defRPr sz="1400" b="0">
                <a:solidFill>
                  <a:srgbClr val="192D3C"/>
                </a:solidFill>
                <a:latin typeface="Avenir Next"/>
              </a:defRPr>
            </a:pPr>
            <a:r>
              <a:t>• Causal importance supports policy targeting beyond raw CLV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usal_c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350515"/>
            <a:ext cx="5248656" cy="291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19" y="564184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CATE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usa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58923"/>
            <a:ext cx="5248656" cy="34991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64184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93B4B"/>
                </a:solidFill>
                <a:latin typeface="Avenir Next"/>
              </a:rPr>
              <a:t>Causal feature importance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Threats to Validity (5.9.7)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Treatment assignment is observational/simulated, not randomized.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Potential unobserved confounding and temporal effects.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Outliers and historical policy effects can bias relationships.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External validity may differ across geographies and verticals.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Launching, Monitoring, Maintenance (5.10)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Production checks: schema validation, feature quality checks, artifact versioning.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Monitoring: RMSE drift, CLV capture@K, feature drift via PSI.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Alerting: warning at PSI &gt;= 0.10, critical at PSI &gt;= 0.25.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Observed max PSI in validation run: 0.036 (stable).</a:t>
            </a:r>
          </a:p>
        </p:txBody>
      </p:sp>
      <p:pic>
        <p:nvPicPr>
          <p:cNvPr id="8" name="Picture 7" descr="seg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03358"/>
            <a:ext cx="3840480" cy="32400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36F96"/>
                </a:solidFill>
                <a:latin typeface="Avenir Next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C1821"/>
                </a:solidFill>
                <a:latin typeface="Avenir Next"/>
              </a:rPr>
              <a:t>Conclusions, Lessons, and Next Steps (5.9.8, 5.9.9)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An end-to-end enterprise DS pipeline was implemented and validated.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Predictive + explainable + causal layers improve decision quality.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Next step: validate uplift on real campaign logs / A/B tests.</a:t>
            </a:r>
          </a:p>
          <a:p>
            <a:pPr>
              <a:spcAft>
                <a:spcPts val="800"/>
              </a:spcAft>
              <a:defRPr sz="2200" b="0">
                <a:solidFill>
                  <a:srgbClr val="12222F"/>
                </a:solidFill>
                <a:latin typeface="Avenir Next"/>
              </a:defRPr>
            </a:pPr>
            <a:r>
              <a:t>This repository is submission-ready with reproducible artifacts.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2743200" cy="2743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6E7F5"/>
                </a:solidFill>
                <a:latin typeface="Avenir Nex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8FBFF"/>
                </a:solidFill>
                <a:latin typeface="Avenir Next"/>
              </a:rP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DCEBF6"/>
                </a:solidFill>
                <a:latin typeface="Avenir Next"/>
              </a:rPr>
              <a:t>Repository: https://github.com/othmane-zizi-pro/nwa</a:t>
            </a:r>
            <a:br/>
            <a:r>
              <a:t>Othmane Zizi (261255341) | Fares Joni (261254593) | Tanmay Giri (261272443)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DCEBF6"/>
                </a:solidFill>
                <a:latin typeface="Avenir Next"/>
              </a:rPr>
              <a:t>Nerds With Attitude - INSY 674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